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640080"/>
            <a:ext cx="2011680" cy="2011680"/>
          </a:xfrm>
          <a:prstGeom prst="ellipse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286000"/>
            <a:ext cx="1280160" cy="1280160"/>
          </a:xfrm>
          <a:prstGeom prst="ellipse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931920"/>
            <a:ext cx="2468880" cy="1828800"/>
          </a:xfrm>
          <a:prstGeom prst="ellipse">
            <a:avLst/>
          </a:prstGeom>
          <a:solidFill>
            <a:srgbClr val="1F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F9B91"/>
                </a:solidFill>
                <a:latin typeface="Aptos"/>
              </a:defRPr>
            </a:pPr>
            <a:r>
              <a:t>NEXOMART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49807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Multi-Seller Online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Marketplace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7040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DAE4F2"/>
                </a:solidFill>
                <a:latin typeface="Aptos"/>
              </a:defRPr>
            </a:pPr>
            <a:r>
              <a:t>Final Review Presentation</a:t>
            </a:r>
          </a:p>
          <a:p>
            <a:pPr>
              <a:spcAft>
                <a:spcPts val="700"/>
              </a:spcAft>
              <a:defRPr sz="1700" b="0">
                <a:solidFill>
                  <a:srgbClr val="DAE4F2"/>
                </a:solidFill>
                <a:latin typeface="Aptos"/>
              </a:defRPr>
            </a:pPr>
            <a:r>
              <a:t>Anna University • R2025 • Semester 3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8076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Live demo: https://nexomart-web.onrender.com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A"/>
                </a:solidFill>
                <a:latin typeface="Aptos"/>
              </a:defRPr>
            </a:pPr>
            <a:r>
              <a:t>1. Problem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6E7D"/>
                </a:solidFill>
                <a:latin typeface="Aptos"/>
              </a:defRPr>
            </a:pPr>
            <a:r>
              <a:t>One marketplace for buyers, independent sellers, and administrators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192024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Small sellers may not have an affordable place to list products. Buyers must visit separate stores to compare options.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73152" cy="1920240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56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NexoMart brings multiple sellers and product listings together in one web 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73152" cy="1920240"/>
          </a:xfrm>
          <a:prstGeom prst="rect">
            <a:avLst/>
          </a:prstGeom>
          <a:solidFill>
            <a:srgbClr val="EF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56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Main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A role-based workflow for shopping, seller product management, order handling, and admin moderation.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4223A"/>
                </a:solidFill>
                <a:latin typeface="Aptos"/>
              </a:defRPr>
            </a:pPr>
            <a:r>
              <a:t>Project goal: make essential marketplace tasks simple, secure, and understandable through a layered Java web application.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6E7D"/>
                </a:solidFill>
                <a:latin typeface="Aptos"/>
              </a:defRPr>
            </a:pPr>
            <a:r>
              <a:t>NexoMart • Final Review • October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6E7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A"/>
                </a:solidFill>
                <a:latin typeface="Aptos"/>
              </a:defRPr>
            </a:pPr>
            <a:r>
              <a:t>2. User Roles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6E7D"/>
                </a:solidFill>
                <a:latin typeface="Aptos"/>
              </a:defRPr>
            </a:pPr>
            <a:r>
              <a:t>Features are grouped by the responsibilities of each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356616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108960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Register / log in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Browse, search, and filter products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Wishlist and shopping cart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Checkout and order history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Product reviews and ratings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AI Chat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73152" cy="3566160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56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SELLER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108960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Add product listings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Edit or delete own products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Manage stock information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View orders containing seller products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View sales-related 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73152" cy="3566160"/>
          </a:xfrm>
          <a:prstGeom prst="rect">
            <a:avLst/>
          </a:prstGeom>
          <a:solidFill>
            <a:srgbClr val="EF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56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86000"/>
            <a:ext cx="3108960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View dashboard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View users and products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Review orders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Remove inappropriate listings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Moderate marketplace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6E7D"/>
                </a:solidFill>
                <a:latin typeface="Aptos"/>
              </a:defRPr>
            </a:pPr>
            <a:r>
              <a:t>NexoMart • Final Review • October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6E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A"/>
                </a:solidFill>
                <a:latin typeface="Aptos"/>
              </a:defRPr>
            </a:pPr>
            <a:r>
              <a:t>3.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6E7D"/>
                </a:solidFill>
                <a:latin typeface="Aptos"/>
              </a:defRPr>
            </a:pPr>
            <a:r>
              <a:t>Layered design separates web requests, business rules, data access, and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0240" y="1645920"/>
            <a:ext cx="8321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40" y="1709928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Browser / JSP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73736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6E7D"/>
                </a:solidFill>
                <a:latin typeface="Aptos"/>
              </a:defRPr>
            </a:pPr>
            <a:r>
              <a:t>User interface and rendered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185416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F9B9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2468880"/>
            <a:ext cx="8321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F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532888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Filters + Servlet Controllers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56032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6E7D"/>
                </a:solidFill>
                <a:latin typeface="Aptos"/>
              </a:defRPr>
            </a:pPr>
            <a:r>
              <a:t>Authentication, route handling, request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008376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F9B9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291840"/>
            <a:ext cx="8321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FB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3355848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Service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38328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6E7D"/>
                </a:solidFill>
                <a:latin typeface="Aptos"/>
              </a:defRPr>
            </a:pPr>
            <a:r>
              <a:t>Validation and business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831336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F9B9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4114800"/>
            <a:ext cx="8321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4178808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DAO Layer (JDBC)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20624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6E7D"/>
                </a:solidFill>
                <a:latin typeface="Aptos"/>
              </a:defRPr>
            </a:pPr>
            <a:r>
              <a:t>Prepared SQL statements and data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654296"/>
            <a:ext cx="457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F9B91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4937760"/>
            <a:ext cx="83210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1F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5001768"/>
            <a:ext cx="3383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23A"/>
                </a:solidFill>
                <a:latin typeface="Aptos"/>
              </a:defRPr>
            </a:pPr>
            <a:r>
              <a:t>H2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0292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6E7D"/>
                </a:solidFill>
                <a:latin typeface="Aptos"/>
              </a:defRPr>
            </a:pPr>
            <a:r>
              <a:t>Users, products, carts, orders, 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6E7D"/>
                </a:solidFill>
                <a:latin typeface="Aptos"/>
              </a:defRPr>
            </a:pPr>
            <a:r>
              <a:t>NexoMart • Final Review • October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6E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A"/>
                </a:solidFill>
                <a:latin typeface="Aptos"/>
              </a:defRPr>
            </a:pPr>
            <a:r>
              <a:t>4.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6E7D"/>
                </a:solidFill>
                <a:latin typeface="Aptos"/>
              </a:defRPr>
            </a:pPr>
            <a:r>
              <a:t>Technologies used in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50876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7180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Java 17 • Servlets • JSP • JSTL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73152" cy="1508760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562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297180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JDBC • H2 Database • HikariCP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9164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691640"/>
            <a:ext cx="73152" cy="1508760"/>
          </a:xfrm>
          <a:prstGeom prst="rect">
            <a:avLst/>
          </a:prstGeom>
          <a:solidFill>
            <a:srgbClr val="EF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562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297180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jBCrypt password hashing • role-based AuthFilter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73152" cy="150876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2219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Build &amp;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51960"/>
            <a:ext cx="297180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Maven • JUnit 5 • Mockito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6576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657600"/>
            <a:ext cx="73152" cy="1508760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82219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51960"/>
            <a:ext cx="297180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Docker • GitHub Actions • 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65760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657600"/>
            <a:ext cx="73152" cy="1508760"/>
          </a:xfrm>
          <a:prstGeom prst="rect">
            <a:avLst/>
          </a:prstGeom>
          <a:solidFill>
            <a:srgbClr val="EF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2219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AI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51960"/>
            <a:ext cx="297180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Gemini provider with mock-provider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6E7D"/>
                </a:solidFill>
                <a:latin typeface="Aptos"/>
              </a:defRPr>
            </a:pPr>
            <a:r>
              <a:t>NexoMart • Final Review • October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6E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A"/>
                </a:solidFill>
                <a:latin typeface="Aptos"/>
              </a:defRPr>
            </a:pPr>
            <a:r>
              <a:t>5. Core Workflow: Place an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6E7D"/>
                </a:solidFill>
                <a:latin typeface="Aptos"/>
              </a:defRPr>
            </a:pPr>
            <a:r>
              <a:t>From the buyer's action to a database-backed confirmation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F9B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1234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Buyer clicks</a:t>
            </a:r>
          </a:p>
          <a:p>
            <a:pPr algn="ctr">
              <a:spcAft>
                <a:spcPts val="7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Place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7672" y="27432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62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28600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F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4231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F9B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34640"/>
            <a:ext cx="1234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Browser sends</a:t>
            </a:r>
          </a:p>
          <a:p>
            <a:pPr algn="ctr">
              <a:spcAft>
                <a:spcPts val="7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2" y="27432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62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28600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FB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24231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F9B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834640"/>
            <a:ext cx="1234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Servlet calls</a:t>
            </a:r>
          </a:p>
          <a:p>
            <a:pPr algn="ctr">
              <a:spcAft>
                <a:spcPts val="7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7432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62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28600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4231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F9B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34640"/>
            <a:ext cx="1234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Service validates</a:t>
            </a:r>
          </a:p>
          <a:p>
            <a:pPr algn="ctr">
              <a:spcAft>
                <a:spcPts val="7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and saves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27432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62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228600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F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4231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F9B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834640"/>
            <a:ext cx="1234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DAO writes to</a:t>
            </a:r>
          </a:p>
          <a:p>
            <a:pPr algn="ctr">
              <a:spcAft>
                <a:spcPts val="7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H2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2" y="27432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626E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32720" y="2286000"/>
            <a:ext cx="1417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FB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0" y="24231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F9B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2834640"/>
            <a:ext cx="1234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Confirmation</a:t>
            </a:r>
          </a:p>
          <a:p>
            <a:pPr algn="ctr">
              <a:spcAft>
                <a:spcPts val="700"/>
              </a:spcAft>
              <a:defRPr sz="1200" b="1">
                <a:solidFill>
                  <a:srgbClr val="14223A"/>
                </a:solidFill>
                <a:latin typeface="Aptos"/>
              </a:defRPr>
            </a:pPr>
            <a:r>
              <a:t>returns to buyer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63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242E3D"/>
                </a:solidFill>
                <a:latin typeface="Aptos"/>
              </a:defRPr>
            </a:pPr>
            <a:r>
              <a:t>The application uses JDBC PreparedStatements for database queries and enforces access through server-side role checks.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6E7D"/>
                </a:solidFill>
                <a:latin typeface="Aptos"/>
              </a:defRPr>
            </a:pPr>
            <a:r>
              <a:t>NexoMart • Final Review • October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6E7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A"/>
                </a:solidFill>
                <a:latin typeface="Aptos"/>
              </a:defRPr>
            </a:pPr>
            <a:r>
              <a:t>6. Security, Testing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6E7D"/>
                </a:solidFill>
                <a:latin typeface="Aptos"/>
              </a:defRPr>
            </a:pPr>
            <a:r>
              <a:t>Current implementation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57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3474720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Security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Passwords stored as bcrypt hashes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Server-side role checks on protected routes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PreparedStatements for SQL queries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JSP output escaping for user-supplied values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Custom 404 and 500 error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578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73152" cy="3474720"/>
          </a:xfrm>
          <a:prstGeom prst="rect">
            <a:avLst/>
          </a:prstGeom>
          <a:solidFill>
            <a:srgbClr val="2D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5623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Testing &amp;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8463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JUnit 5 and Mockito test suites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Maven build and verification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GitHub Actions build workflow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Health endpoint for app/database status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• Docker and Render deployment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Note: the checkout payment step is a mock flow; no real payment gateway is connected.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6E7D"/>
                </a:solidFill>
                <a:latin typeface="Aptos"/>
              </a:defRPr>
            </a:pPr>
            <a:r>
              <a:t>NexoMart • Final Review •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6E7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A"/>
                </a:solidFill>
                <a:latin typeface="Aptos"/>
              </a:defRPr>
            </a:pPr>
            <a:r>
              <a:t>7. Live Demo Plan &amp; Known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6E7D"/>
                </a:solidFill>
                <a:latin typeface="Aptos"/>
              </a:defRPr>
            </a:pPr>
            <a:r>
              <a:t>Use this sequence during the final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42E3D"/>
                </a:solidFill>
                <a:latin typeface="Aptos"/>
              </a:defRPr>
            </a:pPr>
            <a:r>
              <a:t>•  Open the deployed website</a:t>
            </a:r>
          </a:p>
          <a:p>
            <a:pPr>
              <a:spcAft>
                <a:spcPts val="1200"/>
              </a:spcAft>
              <a:defRPr sz="1600">
                <a:solidFill>
                  <a:srgbClr val="242E3D"/>
                </a:solidFill>
                <a:latin typeface="Aptos"/>
              </a:defRPr>
            </a:pPr>
            <a:r>
              <a:t>•  Log in as a buyer; browse/search/filter products</a:t>
            </a:r>
          </a:p>
          <a:p>
            <a:pPr>
              <a:spcAft>
                <a:spcPts val="1200"/>
              </a:spcAft>
              <a:defRPr sz="1600">
                <a:solidFill>
                  <a:srgbClr val="242E3D"/>
                </a:solidFill>
                <a:latin typeface="Aptos"/>
              </a:defRPr>
            </a:pPr>
            <a:r>
              <a:t>•  Add a product to wishlist/cart and complete mock checkout</a:t>
            </a:r>
          </a:p>
          <a:p>
            <a:pPr>
              <a:spcAft>
                <a:spcPts val="1200"/>
              </a:spcAft>
              <a:defRPr sz="1600">
                <a:solidFill>
                  <a:srgbClr val="242E3D"/>
                </a:solidFill>
                <a:latin typeface="Aptos"/>
              </a:defRPr>
            </a:pPr>
            <a:r>
              <a:t>•  Show order history and a review</a:t>
            </a:r>
          </a:p>
          <a:p>
            <a:pPr>
              <a:spcAft>
                <a:spcPts val="1200"/>
              </a:spcAft>
              <a:defRPr sz="1600">
                <a:solidFill>
                  <a:srgbClr val="242E3D"/>
                </a:solidFill>
                <a:latin typeface="Aptos"/>
              </a:defRPr>
            </a:pPr>
            <a:r>
              <a:t>•  Log in as a seller; manage a listing and view seller orders</a:t>
            </a:r>
          </a:p>
          <a:p>
            <a:pPr>
              <a:spcAft>
                <a:spcPts val="1200"/>
              </a:spcAft>
              <a:defRPr sz="1600">
                <a:solidFill>
                  <a:srgbClr val="242E3D"/>
                </a:solidFill>
                <a:latin typeface="Aptos"/>
              </a:defRPr>
            </a:pPr>
            <a:r>
              <a:t>•  Log in as admin; show users, products, and orders</a:t>
            </a:r>
          </a:p>
          <a:p>
            <a:pPr>
              <a:spcAft>
                <a:spcPts val="1200"/>
              </a:spcAft>
              <a:defRPr sz="1600">
                <a:solidFill>
                  <a:srgbClr val="242E3D"/>
                </a:solidFill>
                <a:latin typeface="Aptos"/>
              </a:defRPr>
            </a:pPr>
            <a:r>
              <a:t>•  Demonstrate the AI Chat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91640"/>
            <a:ext cx="4800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691640"/>
            <a:ext cx="73152" cy="1828800"/>
          </a:xfrm>
          <a:prstGeom prst="rect">
            <a:avLst/>
          </a:prstGeom>
          <a:solidFill>
            <a:srgbClr val="EFB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85623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286000"/>
            <a:ext cx="4389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Payment is simulated. The free-tier H2 database may reset after service restarts.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749039"/>
            <a:ext cx="4800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3749039"/>
            <a:ext cx="73152" cy="1645920"/>
          </a:xfrm>
          <a:prstGeom prst="rect">
            <a:avLst/>
          </a:prstGeom>
          <a:solidFill>
            <a:srgbClr val="1F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913631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A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34340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Live demo: https://nexomart-web.onrender.com</a:t>
            </a:r>
          </a:p>
          <a:p>
            <a:pPr>
              <a:spcAft>
                <a:spcPts val="700"/>
              </a:spcAft>
              <a:defRPr sz="1300" b="0">
                <a:solidFill>
                  <a:srgbClr val="626E7D"/>
                </a:solidFill>
                <a:latin typeface="Aptos"/>
              </a:defRPr>
            </a:pPr>
            <a:r>
              <a:t>GitHub: github.com/inishajudi/NexoMart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6E7D"/>
                </a:solidFill>
                <a:latin typeface="Aptos"/>
              </a:defRPr>
            </a:pPr>
            <a:r>
              <a:t>Before presenting: verify the live site, capture current screenshots, and record a short backup demo video.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6E7D"/>
                </a:solidFill>
                <a:latin typeface="Aptos"/>
              </a:defRPr>
            </a:pPr>
            <a:r>
              <a:t>NexoMart • Final Review •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6E7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